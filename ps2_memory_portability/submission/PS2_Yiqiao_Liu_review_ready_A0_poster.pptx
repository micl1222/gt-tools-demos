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6b50dc75742c4" /><Relationship Type="http://schemas.openxmlformats.org/officeDocument/2006/relationships/extended-properties" Target="/docProps/app.xml" Id="Re7fc311ec0c04dd3" /><Relationship Type="http://schemas.openxmlformats.org/officeDocument/2006/relationships/officeDocument" Target="/ppt/presentation.xml" Id="Rbe04cb175c0c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571b3173e4ca7"/>
  </p:sldMasterIdLst>
  <p:notesMasterIdLst>
    <p:notesMasterId xmlns:r="http://schemas.openxmlformats.org/officeDocument/2006/relationships" r:id="Rd63ea9e45b88425e"/>
  </p:notesMasterIdLst>
  <p:sldIdLst>
    <p:sldId xmlns:r="http://schemas.openxmlformats.org/officeDocument/2006/relationships" id="256" r:id="R371f29db884e4f29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c21a8cc2d4364" /><Relationship Type="http://schemas.openxmlformats.org/officeDocument/2006/relationships/slideMaster" Target="/ppt/slideMasters/slideMaster1.xml" Id="Red3571b3173e4ca7" /><Relationship Type="http://schemas.openxmlformats.org/officeDocument/2006/relationships/notesMaster" Target="/ppt/notesMasters/notesMaster1.xml" Id="Rd63ea9e45b88425e" /><Relationship Type="http://schemas.openxmlformats.org/officeDocument/2006/relationships/presProps" Target="/ppt/presProps.xml" Id="R121fc8b8dcb94b65" /><Relationship Type="http://schemas.openxmlformats.org/officeDocument/2006/relationships/tableStyles" Target="/ppt/tableStyles.xml" Id="R09285abd93a24437" /><Relationship Type="http://schemas.openxmlformats.org/officeDocument/2006/relationships/slide" Target="/ppt/slides/slide1.xml" Id="R371f29db884e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ecdbaba1b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b8c9e61194d10" /><Relationship Type="http://schemas.openxmlformats.org/officeDocument/2006/relationships/notesMaster" Target="/ppt/notesMasters/notesMaster1.xml" Id="R01d8a452accc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COMSCI/ECON 206 PS2 clean A0 poster template.</a:t>
            </a:r>
          </a:p>
          <a:p xmlns:a="http://schemas.openxmlformats.org/drawingml/2006/main"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 xmlns:a="http://schemas.openxmlformats.org/drawingml/2006/main"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 xmlns:a="http://schemas.openxmlformats.org/drawingml/2006/main"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  <a:p xmlns:a="http://schemas.openxmlformats.org/drawingml/2006/main">
            <a:r>
              <a:t>
Poster evidence record, review-ready v1:
Paper baseline: commit 43a2941184d8130852af3c1f88fc90e8b2fd9fc6.
Model/output evidence: ps2_memory_portability/outputs and tests at snapshot f9523b0.
Public URLs returned HTTP 200 on 2026-09-26: https://huggingface.co/spaces/mickeystk/ps2-stay-or-switch-memory-portability and https://github.com/micL1222/gt-tools-demos/tree/ps2-memory-portability.
QR targets were generated locally and decoded back to the displayed URLs.
No participant result, symposium feedback, or classroom auction-play evidence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970816744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d76a3fefd843ca" /><Relationship Type="http://schemas.openxmlformats.org/officeDocument/2006/relationships/slideLayout" Target="/ppt/slideLayouts/slideLayout1.xml" Id="R09d0375e02ac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0375e02ac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90395184541b9" /><Relationship Type="http://schemas.openxmlformats.org/officeDocument/2006/relationships/image" Target="/ppt/media/image.png" Id="Ra10eb5eeee264f1a" /><Relationship Type="http://schemas.openxmlformats.org/officeDocument/2006/relationships/hyperlink" Target="https://huggingface.co/spaces/mickeystk/ps2-stay-or-switch-memory-portability" TargetMode="External" Id="R1db854849f0046c5" /><Relationship Type="http://schemas.openxmlformats.org/officeDocument/2006/relationships/hyperlink" Target="https://github.com/micL1222/gt-tools-demos/tree/ps2-memory-portability" TargetMode="External" Id="R4f784d08610a4c0a" /><Relationship Type="http://schemas.openxmlformats.org/officeDocument/2006/relationships/image" Target="/ppt/media/image2.png" Id="R7854600edc8b416f" /><Relationship Type="http://schemas.openxmlformats.org/officeDocument/2006/relationships/image" Target="/ppt/media/image3.png" Id="Rb3d5c05ed7094b72" /><Relationship Type="http://schemas.openxmlformats.org/officeDocument/2006/relationships/notesSlide" Target="/ppt/notesSlides/notesSlide1.xml" Id="R7166bd65532543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REVIEW-READY V1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Stay or Switch? Strategic Memory Portability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 Competing AI Assistants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 (Mickey), solo team, course code pending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eb5eeee264f1a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Portability can be socially valuable yet strategically absent. At the benchmark, lock-in and low-type portability are both pure Bayesian equilibria, while user switching remains an untested behavioral question.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60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Shared question: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When do competing AI assistants with private implementation costs supply portable memory, and when does that availability improve user mobility?</a:t>
            </a:r>
          </a:p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gap: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Switching-cost and compatibility research explains lock-in, but does not jointly test this Bayesian game, its welfare and incentive comparisons, and AI-user choice [1, 3].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Players and timing: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Two platforms privately observe cost cᵢ in {.2, 1.2}, with Pr(cᵢ=.2)=.7, then simultaneously choose Portable (P) or Locked (L).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Payoffs: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EU(P|c)=3q-1-c and EU(L|c)=q.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Solution concept: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Bayesian Nash equilibrium fits private types [2]. Direct enumeration checks all 16 strategy profiles.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Exactly two pure BNE, (LL,LL) and (PL,PL). The low-type mixed probability is 6/7.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m=1, welfare is 0, 2.17, and 4 for LL, PL, and PP. PP is a comparator, not a BNE.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p=.4, benefit τ=.4 weakly sustains PL. LL remains weak through τ=1.2.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Mapping: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primary-assistant slot and two iid U[0,1] platform values.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Rules: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First price uses b(v;r)=(v²+r²)/(2v). Second price uses truthful bids [4].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Comparison: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Lowering the assumed reserve from .50 to .20 raises allocation from .75193 to .96004. Conditional efficiency is 1.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Boundary: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This is an allocation analogy. The user is not auctioned.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One evidence chain links platform incentives, reproducible verification, and a bounded future user test.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Table 1.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outputs at GitHub snapshot f9523b0.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Interpretation: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Portability can improve the collective comparator and allocation access while equilibrium multiplicity remains.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Verification: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PyGambit agreement, 85/85 tests, and seed 20603.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status: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Platform results are analytical or simulated. The user test has no participant data.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impact: a real-world case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Case: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 student or writer moving years of assistant context between platforms.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Decision: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Whether institutions and platforms should support secure export and import.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Potential benefit: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 switching friction and greater contestability.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Risks: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Privacy leakage, incomplete transfer, and inaccessible tools.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before adoption: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Transfer fidelity, security, access, and switching outcomes.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Behavioral science: Hugging Face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Twelve fixed scenarios compare initial and final Stay/Switch choices around g&gt;r. Six predict each choice. The Space stores page-session aggregates only. No participant conclusion.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Computer science: GitHub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Direct enumeration, a PyGambit cross-check, integer-built sweeps, a seeded auction simulation, and 85/85 tests make every result inspectable.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Integration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The public artifact tests whether modeled portability translates into user mobility without changing the platform game.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Main limit: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Normalized costs and reserves are assumptions, not market estimates. The public Space has no participant dataset.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Next test: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Compare switching across portability scenarios while measuring privacy and personalization concerns.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Symposium question: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Which omitted concern is most likely to overturn the benchmark?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28  Symposium, peer evaluation &amp; case impact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30  Final update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Zhang. Official PS2 template, open-source Python and PyGambit tools, and OpenAI Codex assistance for drafting, implementation, and QA. Yiqiao Liu remains responsible for all claims.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Farrell, J., &amp; Klemperer, P. (2007). Coordination and lock-in. Handbook of Industrial Organization. doi:10.1016/S1573-448X(06)03031-7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Harsanyi, J. C. (1968). Games with incomplete information, II. Management Science, 14(5), 320-334. doi:10.1287/mnsc.14.5.320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Jeon, D.-S., Menicucci, D., &amp; Nasr, N. (2023). Compatibility choices, switching costs, and data portability. AEJ Microeconomics, 15(1), 30-73. doi:10.1257/mic.20200309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[4] Vickrey, W. (1961). Counterspeculation, auctions, and competitive sealed tenders. Journal of Finance, 16(1), 8-37. doi:10.1111/j.1540-6261.1961.tb02789.x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8336875"/>
            <a:ext cx="838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260"/>
              </a:spcAft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db854849f0046c5"/>
              </a:rPr>
              <a:t>https://huggingface.co/spaces/mickeystk/ps2-stay-or-switch-memory-portability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f784d08610a4c0a"/>
              </a:rPr>
              <a:t>https://github.com/micL1222/gt-tools-demos/tree/ps2-memory-portability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42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HF</a:t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67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GH</a:t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A0 landscape, 1189 × 841 mm. Editable PPTX and PDF. Actual evidence remains separate from planned tests.</a:t>
            </a:r>
          </a:p>
        </p:txBody>
      </p:sp>
      <p:sp>
        <p:nvSpPr>
          <p:cNvPr id="54" name="diagram-economics">
            <a:extLst xmlns:a="http://schemas.openxmlformats.org/drawingml/2006/main">
              <a:ext uri="{FF2B5EF4-FFF2-40B4-BE49-F238E27FC236}">
                <a16:creationId xmlns:a16="http://schemas.microsoft.com/office/drawing/2014/main" id="{1DC9C6DE-3733-44A8-BB89-B7F1943E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Economics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Private costs
BNE, welfare, incentive</a:t>
            </a:r>
          </a:p>
        </p:txBody>
      </p:sp>
      <p:sp>
        <p:nvSpPr>
          <p:cNvPr id="55" name="diagram-computation">
            <a:extLst xmlns:a="http://schemas.openxmlformats.org/drawingml/2006/main">
              <a:ext uri="{FF2B5EF4-FFF2-40B4-BE49-F238E27FC236}">
                <a16:creationId xmlns:a16="http://schemas.microsoft.com/office/drawing/2014/main" id="{748EFD82-970B-437B-9459-AF08A511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Computation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16 profiles, PyGambit
sweeps, seeded auction</a:t>
            </a:r>
          </a:p>
        </p:txBody>
      </p:sp>
      <p:sp>
        <p:nvSpPr>
          <p:cNvPr id="56" name="diagram-behavior">
            <a:extLst xmlns:a="http://schemas.openxmlformats.org/drawingml/2006/main">
              <a:ext uri="{FF2B5EF4-FFF2-40B4-BE49-F238E27FC236}">
                <a16:creationId xmlns:a16="http://schemas.microsoft.com/office/drawing/2014/main" id="{869C28A9-D221-41E3-8D98-935521D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Behavior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12 fixed scenarios
no participant inference</a:t>
            </a:r>
          </a:p>
        </p:txBody>
      </p:sp>
      <p:cxnSp>
        <p:nvCxnSpPr>
          <p:cNvPr id="117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804987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290762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sp>
        <p:nvSpPr>
          <p:cNvPr id="59" name="diagram-synthesis">
            <a:extLst xmlns:a="http://schemas.openxmlformats.org/drawingml/2006/main">
              <a:ext uri="{FF2B5EF4-FFF2-40B4-BE49-F238E27FC236}">
                <a16:creationId xmlns:a16="http://schemas.microsoft.com/office/drawing/2014/main" id="{E5B913FF-A5A5-41E7-8669-A503912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3858875"/>
            <a:ext cx="1423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Availability, collective value, and user adoption require distinct evidence.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13668375" y="17954625"/>
          <a:ext xmlns:a="http://schemas.openxmlformats.org/drawingml/2006/main" cx="15478125" cy="571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9239250"/>
                <a:gridCol w="3667125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Verified output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Pure BNE: (LL,LL) and (PL,PL). Low-type mix: 6/7.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Analytical and computed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Welfare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m=1: WLL=0, WPL=2.17, WPP=4.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PP is a comparator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Incentive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p=.4, τ=.4 sustains PL. LL remains weak through τ=1.2.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Threshold sweep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Auction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Allocation is .75193 at r=.50 and .96004 at r=.20.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N=100,000, seed 20603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4600edc8b416f"/>
          <a:stretch xmlns:a="http://schemas.openxmlformats.org/drawingml/2006/main"/>
        </p:blipFill>
        <p:spPr>
          <a:xfrm xmlns:a="http://schemas.openxmlformats.org/drawingml/2006/main">
            <a:off x="39232142" y="28403550"/>
            <a:ext cx="876300" cy="876300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5c05ed7094b72"/>
          <a:stretch xmlns:a="http://schemas.openxmlformats.org/drawingml/2006/main"/>
        </p:blipFill>
        <p:spPr>
          <a:xfrm xmlns:a="http://schemas.openxmlformats.org/drawingml/2006/main">
            <a:off x="40498967" y="28403550"/>
            <a:ext cx="8763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2026-09-26T13:03:36.4410000Z</dcterms:created>
  <dcterms:modified xsi:type="dcterms:W3CDTF">2026-09-26T13:03:36.4410000Z</dcterms:modified>
</coreProperties>
</file>